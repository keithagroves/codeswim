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594360"/>
            <a:ext cx="1051560" cy="384048"/>
          </a:xfrm>
          <a:prstGeom prst="roundRect">
            <a:avLst>
              <a:gd name="adj" fmla="val 14286"/>
            </a:avLst>
          </a:prstGeom>
          <a:solidFill>
            <a:srgbClr val="1C7293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903720" y="1508760"/>
            <a:ext cx="960120" cy="384048"/>
          </a:xfrm>
          <a:prstGeom prst="roundRect">
            <a:avLst>
              <a:gd name="adj" fmla="val 14286"/>
            </a:avLst>
          </a:prstGeom>
          <a:solidFill>
            <a:srgbClr val="1C7293">
              <a:alpha val="2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092440" y="1508760"/>
            <a:ext cx="685800" cy="384048"/>
          </a:xfrm>
          <a:prstGeom prst="roundRect">
            <a:avLst>
              <a:gd name="adj" fmla="val 14286"/>
            </a:avLst>
          </a:prstGeom>
          <a:solidFill>
            <a:srgbClr val="1C7293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7379208" y="978408"/>
            <a:ext cx="594360" cy="530352"/>
          </a:xfrm>
          <a:prstGeom prst="line">
            <a:avLst/>
          </a:prstGeom>
          <a:noFill/>
          <a:ln w="12700">
            <a:solidFill>
              <a:srgbClr val="3A5C8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73568" y="978408"/>
            <a:ext cx="457200" cy="530352"/>
          </a:xfrm>
          <a:prstGeom prst="line">
            <a:avLst/>
          </a:prstGeom>
          <a:noFill/>
          <a:ln w="12700">
            <a:solidFill>
              <a:srgbClr val="3A5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3657600"/>
            <a:ext cx="914400" cy="347472"/>
          </a:xfrm>
          <a:prstGeom prst="roundRect">
            <a:avLst>
              <a:gd name="adj" fmla="val 13158"/>
            </a:avLst>
          </a:prstGeom>
          <a:solidFill>
            <a:srgbClr val="1C7293">
              <a:alpha val="1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" y="4434840"/>
            <a:ext cx="914400" cy="347472"/>
          </a:xfrm>
          <a:prstGeom prst="roundRect">
            <a:avLst>
              <a:gd name="adj" fmla="val 13158"/>
            </a:avLst>
          </a:prstGeom>
          <a:solidFill>
            <a:srgbClr val="1C7293">
              <a:alpha val="1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4005072"/>
            <a:ext cx="548640" cy="429768"/>
          </a:xfrm>
          <a:prstGeom prst="line">
            <a:avLst/>
          </a:prstGeom>
          <a:noFill/>
          <a:ln w="12700">
            <a:solidFill>
              <a:srgbClr val="3A5C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840480" y="566928"/>
            <a:ext cx="146304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pic>
        <p:nvPicPr>
          <p:cNvPr id="11" name="Image 0" descr="/var/folders/c8/tfsrh7q95nj3ldwq3jl7vj4c0000gn/T/codeswim-logo-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658368"/>
            <a:ext cx="1280160" cy="128016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57200" y="22402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codeswim</a:t>
            </a:r>
            <a:endParaRPr lang="en-US" sz="4600" dirty="0"/>
          </a:p>
        </p:txBody>
      </p:sp>
      <p:sp>
        <p:nvSpPr>
          <p:cNvPr id="13" name="Text 10"/>
          <p:cNvSpPr/>
          <p:nvPr/>
        </p:nvSpPr>
        <p:spPr>
          <a:xfrm>
            <a:off x="1097280" y="306324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codebase the way it was designed —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hierarchy of living diagrams.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097280" y="391363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diagrams are the spec. The code is what implements them.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Keith Groves ·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writes the code. Nobody reads it all.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generation has outrun human comprehension — and every existing fix for that is a document nobody maintains.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621280" cy="2834640"/>
          </a:xfrm>
          <a:prstGeom prst="roundRect">
            <a:avLst>
              <a:gd name="adj" fmla="val 2791"/>
            </a:avLst>
          </a:prstGeom>
          <a:solidFill>
            <a:srgbClr val="EDF4F9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55648"/>
            <a:ext cx="530352" cy="530352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427" y="1898843"/>
            <a:ext cx="243962" cy="243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441448"/>
            <a:ext cx="2109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flood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3232" y="2852928"/>
            <a:ext cx="2109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now produce most new code. Reviewing it line-by-line was already a fiction; at agent speed it's a fantasy.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61360" y="1481328"/>
            <a:ext cx="2621280" cy="2834640"/>
          </a:xfrm>
          <a:prstGeom prst="roundRect">
            <a:avLst>
              <a:gd name="adj" fmla="val 2791"/>
            </a:avLst>
          </a:prstGeom>
          <a:solidFill>
            <a:srgbClr val="EDF4F9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17392" y="1755648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0587" y="1898843"/>
            <a:ext cx="243962" cy="243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17392" y="2441448"/>
            <a:ext cx="2109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drift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517392" y="2852928"/>
            <a:ext cx="2109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lives in wikis and whiteboard photos that rot the day they're written. The repo never matches the picture.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65520" y="1481328"/>
            <a:ext cx="2621280" cy="2834640"/>
          </a:xfrm>
          <a:prstGeom prst="roundRect">
            <a:avLst>
              <a:gd name="adj" fmla="val 2791"/>
            </a:avLst>
          </a:prstGeom>
          <a:solidFill>
            <a:srgbClr val="EDF4F9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1552" y="1755648"/>
            <a:ext cx="530352" cy="530352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747" y="1898843"/>
            <a:ext cx="243962" cy="243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21552" y="2441448"/>
            <a:ext cx="2109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cost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321552" y="2852928"/>
            <a:ext cx="2109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Onboarding, reviews, and incidents all start with archaeology — weeks reconstructing how the system actually fits together.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pPr algn="ctr" indent="0" marL="0">
              <a:buNone/>
            </a:pPr>
            <a:r>
              <a:rPr lang="en-US" sz="1500" i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not writing — is now the bottleneck of software.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Outsource the typing. Keep the understanding.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should navigate architecture through intentional diagrams, not by reading generated implementation.
</a:t>
            </a:r>
            <a:pPr indent="0" marL="0">
              <a:buNone/>
            </a:pPr>
            <a:r>
              <a:rPr lang="en-US" sz="140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codeswim, diagrams are the primary interface to a system. Code is a leaf-level detail you open only to verify or change something specific.
</a:t>
            </a:r>
            <a:pPr indent="0" marL="0">
              <a:buNone/>
            </a:pPr>
            <a:r>
              <a:rPr lang="en-US" sz="14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can outsource your thinking, but you can't outsource your understanding.”
</a:t>
            </a:r>
            <a:pPr indent="0" marL="0">
              <a:buNone/>
            </a:pPr>
            <a:r>
              <a:rPr lang="en-US" sz="1150" i="1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Andrej Karpathy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080760" y="1325880"/>
            <a:ext cx="1463040" cy="411480"/>
          </a:xfrm>
          <a:prstGeom prst="roundRect">
            <a:avLst>
              <a:gd name="adj" fmla="val 13333"/>
            </a:avLst>
          </a:prstGeom>
          <a:solidFill>
            <a:srgbClr val="065A82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80760" y="1325880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overview.md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074920" y="2377440"/>
            <a:ext cx="1097280" cy="384048"/>
          </a:xfrm>
          <a:prstGeom prst="roundRect">
            <a:avLst>
              <a:gd name="adj" fmla="val 14286"/>
            </a:avLst>
          </a:prstGeom>
          <a:solidFill>
            <a:srgbClr val="EDF4F9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74920" y="23774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billing.md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55080" y="2377440"/>
            <a:ext cx="1097280" cy="384048"/>
          </a:xfrm>
          <a:prstGeom prst="roundRect">
            <a:avLst>
              <a:gd name="adj" fmla="val 14286"/>
            </a:avLst>
          </a:prstGeom>
          <a:solidFill>
            <a:srgbClr val="EDF4F9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3774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auth.md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635240" y="2377440"/>
            <a:ext cx="1097280" cy="384048"/>
          </a:xfrm>
          <a:prstGeom prst="roundRect">
            <a:avLst>
              <a:gd name="adj" fmla="val 14286"/>
            </a:avLst>
          </a:prstGeom>
          <a:solidFill>
            <a:srgbClr val="EDF4F9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635240" y="23774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api.md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 flipH="1">
            <a:off x="5623560" y="1737360"/>
            <a:ext cx="1188720" cy="64008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12280" y="1737360"/>
            <a:ext cx="91440" cy="64008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12280" y="1737360"/>
            <a:ext cx="1371600" cy="64008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12080" y="3429000"/>
            <a:ext cx="10515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5B708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4290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7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charge.ts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92240" y="3429000"/>
            <a:ext cx="105156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5B70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42900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7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refund.ts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23560" y="2761488"/>
            <a:ext cx="109728" cy="667512"/>
          </a:xfrm>
          <a:prstGeom prst="line">
            <a:avLst/>
          </a:prstGeom>
          <a:noFill/>
          <a:ln w="12700">
            <a:solidFill>
              <a:srgbClr val="5B708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23560" y="2761488"/>
            <a:ext cx="1389888" cy="667512"/>
          </a:xfrm>
          <a:prstGeom prst="line">
            <a:avLst/>
          </a:prstGeom>
          <a:noFill/>
          <a:ln w="12700">
            <a:solidFill>
              <a:srgbClr val="5B70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40690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all the way down — code only at the leaves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panels, one loop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codeswim isn't a viewer bolted onto an editor — it's an agentic IDE built around a single feedback loop.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2621280" cy="2834640"/>
          </a:xfrm>
          <a:prstGeom prst="roundRect">
            <a:avLst>
              <a:gd name="adj" fmla="val 2791"/>
            </a:avLst>
          </a:prstGeom>
          <a:solidFill>
            <a:srgbClr val="EDF4F9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755648"/>
            <a:ext cx="530352" cy="530352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427" y="1898843"/>
            <a:ext cx="243962" cy="24396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441448"/>
            <a:ext cx="2109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3232" y="2852928"/>
            <a:ext cx="2109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direct the agent — a command strip, not a wall of code. You express intent; the agent does the typing.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61360" y="1481328"/>
            <a:ext cx="2621280" cy="2834640"/>
          </a:xfrm>
          <a:prstGeom prst="roundRect">
            <a:avLst>
              <a:gd name="adj" fmla="val 2791"/>
            </a:avLst>
          </a:prstGeom>
          <a:solidFill>
            <a:srgbClr val="EDF4F9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17392" y="1755648"/>
            <a:ext cx="530352" cy="530352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0587" y="1898843"/>
            <a:ext cx="243962" cy="24396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17392" y="2441448"/>
            <a:ext cx="2109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View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517392" y="2852928"/>
            <a:ext cx="2109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 read what happened — the architecture as a live diagram. Once the agent writes the code, this is the panel you live in.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65520" y="1481328"/>
            <a:ext cx="2621280" cy="2834640"/>
          </a:xfrm>
          <a:prstGeom prst="roundRect">
            <a:avLst>
              <a:gd name="adj" fmla="val 2791"/>
            </a:avLst>
          </a:prstGeom>
          <a:solidFill>
            <a:srgbClr val="EDF4F9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1552" y="1755648"/>
            <a:ext cx="530352" cy="530352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747" y="1898843"/>
            <a:ext cx="243962" cy="24396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21552" y="2441448"/>
            <a:ext cx="2109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the loop, not on the stage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321552" y="2852928"/>
            <a:ext cx="210921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works silently and surfaces a settled diagram to judge — checkpoints, not a stream you babysit.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persistent panels, never three</a:t>
            </a:r>
            <a:pPr algn="ctr" indent="0" marL="0">
              <a:buNone/>
            </a:pPr>
            <a:r>
              <a:rPr lang="en-US" sz="1500" i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cardinality of a feedback loop, not austerity.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codeswim: the diagram-first code navigator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042416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988" y="1178204"/>
            <a:ext cx="231343" cy="23134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005840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it at a repo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1143000" y="1298448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any folder of markdown + mermaid. No server, no import step, no account.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17373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988" y="1873148"/>
            <a:ext cx="231343" cy="23134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43000" y="1700784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through the architecture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1143000" y="1993392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from the system overview into subsystems, flows, and finally a highlighted source line.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57200" y="2432304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88" y="2568092"/>
            <a:ext cx="231343" cy="231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43000" y="2395728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live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1143000" y="2688336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watcher re-renders within a second of any edit — diagrams behave like a running view, not a static doc.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57200" y="3127248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88" y="3263036"/>
            <a:ext cx="231343" cy="23134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3000" y="3090672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keeps it honest</a:t>
            </a:r>
            <a:endParaRPr lang="en-US" sz="1450" dirty="0"/>
          </a:p>
        </p:txBody>
      </p:sp>
      <p:sp>
        <p:nvSpPr>
          <p:cNvPr id="18" name="Text 12"/>
          <p:cNvSpPr/>
          <p:nvPr/>
        </p:nvSpPr>
        <p:spPr>
          <a:xfrm>
            <a:off x="1143000" y="3383280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AI panel updates diagrams when code changes — and vice versa — so the map never lies.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457200" y="382219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988" y="3957980"/>
            <a:ext cx="231343" cy="231343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143000" y="3785616"/>
            <a:ext cx="406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who's reading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1143000" y="4078224"/>
            <a:ext cx="4069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Per-repo presence and chat ride the same diagram tree — you see which subsystem a teammate is on. Access is your GitHub repo permission; no new accounts.</a:t>
            </a:r>
            <a:endParaRPr lang="en-US" sz="1150" dirty="0"/>
          </a:p>
        </p:txBody>
      </p:sp>
      <p:sp>
        <p:nvSpPr>
          <p:cNvPr id="23" name="Shape 16"/>
          <p:cNvSpPr/>
          <p:nvPr/>
        </p:nvSpPr>
        <p:spPr>
          <a:xfrm>
            <a:off x="5486400" y="1170432"/>
            <a:ext cx="3200400" cy="324612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C9D7E2"/>
            </a:solidFill>
            <a:prstDash val="solid"/>
          </a:ln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5596128" y="1298448"/>
            <a:ext cx="2980944" cy="292608"/>
          </a:xfrm>
          <a:prstGeom prst="rect">
            <a:avLst/>
          </a:prstGeom>
          <a:solidFill>
            <a:srgbClr val="EDF4F9"/>
          </a:solidFill>
          <a:ln/>
        </p:spPr>
      </p:sp>
      <p:sp>
        <p:nvSpPr>
          <p:cNvPr id="25" name="Text 18"/>
          <p:cNvSpPr/>
          <p:nvPr/>
        </p:nvSpPr>
        <p:spPr>
          <a:xfrm>
            <a:off x="5687568" y="12984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72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overview  ▸  billing  ▸  charge-flow</a:t>
            </a:r>
            <a:endParaRPr lang="en-US" sz="850" dirty="0"/>
          </a:p>
        </p:txBody>
      </p:sp>
      <p:sp>
        <p:nvSpPr>
          <p:cNvPr id="26" name="Shape 19"/>
          <p:cNvSpPr/>
          <p:nvPr/>
        </p:nvSpPr>
        <p:spPr>
          <a:xfrm>
            <a:off x="6400800" y="1828800"/>
            <a:ext cx="1371600" cy="384048"/>
          </a:xfrm>
          <a:prstGeom prst="roundRect">
            <a:avLst>
              <a:gd name="adj" fmla="val 14286"/>
            </a:avLst>
          </a:prstGeom>
          <a:solidFill>
            <a:srgbClr val="065A82"/>
          </a:solidFill>
          <a:ln w="15875">
            <a:solidFill>
              <a:srgbClr val="065A82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6400800" y="18288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Gateway</a:t>
            </a:r>
            <a:endParaRPr lang="en-US" sz="950" dirty="0"/>
          </a:p>
        </p:txBody>
      </p:sp>
      <p:sp>
        <p:nvSpPr>
          <p:cNvPr id="28" name="Shape 21"/>
          <p:cNvSpPr/>
          <p:nvPr/>
        </p:nvSpPr>
        <p:spPr>
          <a:xfrm>
            <a:off x="5806440" y="2697480"/>
            <a:ext cx="1097280" cy="384048"/>
          </a:xfrm>
          <a:prstGeom prst="roundRect">
            <a:avLst>
              <a:gd name="adj" fmla="val 14286"/>
            </a:avLst>
          </a:prstGeom>
          <a:solidFill>
            <a:srgbClr val="EDF4F9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5806440" y="26974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Charge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7269480" y="2697480"/>
            <a:ext cx="1097280" cy="384048"/>
          </a:xfrm>
          <a:prstGeom prst="roundRect">
            <a:avLst>
              <a:gd name="adj" fmla="val 14286"/>
            </a:avLst>
          </a:prstGeom>
          <a:solidFill>
            <a:srgbClr val="EDF4F9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7269480" y="26974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Refund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 flipH="1">
            <a:off x="6355080" y="2212848"/>
            <a:ext cx="731520" cy="484632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7086600" y="2212848"/>
            <a:ext cx="731520" cy="484632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537960" y="3584448"/>
            <a:ext cx="1097280" cy="457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537960" y="35844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Billing DB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6355080" y="3081528"/>
            <a:ext cx="548640" cy="50292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 flipH="1">
            <a:off x="7269480" y="3081528"/>
            <a:ext cx="548640" cy="50292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5394960" y="455371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is a click — to a child diagram or the source itself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markdown, versioned with the code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4160520" cy="3611880"/>
          </a:xfrm>
          <a:prstGeom prst="roundRect">
            <a:avLst>
              <a:gd name="adj" fmla="val 2025"/>
            </a:avLst>
          </a:prstGeom>
          <a:solidFill>
            <a:srgbClr val="0E2433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49808" y="1371600"/>
            <a:ext cx="3611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billing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7FB3D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description: charges &amp; refunds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```mermaid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flowchart TD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 --&gt; Charge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 --&gt; Refund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Charge --&gt; DB[(Billing DB)]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 Charge call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navigate("./charge-flow.md")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 DB call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navigate("./src/db.ts#L25-L40")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983480" y="123444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19268" y="1370228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0" y="11978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proprietary format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669280" y="149047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Frontmatter + one mermaid block per file. Renders on GitHub, reviews in PRs, versions with the code it describes.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983480" y="242316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268" y="2558948"/>
            <a:ext cx="231343" cy="23134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669280" y="238658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by construction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5669280" y="26791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 is a relative path. The same architecture folder works on any machine, in any tool — no lock-in.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983480" y="3611880"/>
            <a:ext cx="502920" cy="50292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9268" y="3747668"/>
            <a:ext cx="231343" cy="23134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669280" y="357530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to ground truth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5669280" y="386791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ending in .md open a child diagram; anything else opens the code pane, jumping straight to the cited lines.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now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466088" y="1371600"/>
            <a:ext cx="603504" cy="603504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9034" y="1534546"/>
            <a:ext cx="277612" cy="2776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194560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inflection hit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548640" y="2606040"/>
            <a:ext cx="2438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assistants crossed the line: the majority of new code is generated. Reading speed — not writing speed — is the constraint on shipping.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270248" y="1371600"/>
            <a:ext cx="603504" cy="603504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194" y="1534546"/>
            <a:ext cx="277612" cy="2776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61360" y="2194560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Upkeep became free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3352800" y="2606040"/>
            <a:ext cx="2438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diagrams aligned with code used to be human toil nobody did. An agent now does it in the background, on every change.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7074408" y="1371600"/>
            <a:ext cx="603504" cy="603504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7354" y="1534546"/>
            <a:ext cx="277612" cy="27761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065520" y="2194560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Mermaid already won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6156960" y="2606040"/>
            <a:ext cx="2438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GitLab, Notion, and Obsidian all render mermaid natively. Developers already author it — codeswim makes it navigable.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curves crossing at once — the tool that sits at the intersection gets adopted by default.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codeswim sits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DF4F9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9903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 IDEs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16916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7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· Copilot · Windsurf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85800" y="1984248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writing code faster — which makes the pile of unread code grow faster. No answer for understanding.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DF4F9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8211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 &amp; doc tools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85800" y="347472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70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Lucidchart · Confluence · CodeSee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85800" y="3767328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Pictures live outside the repo, drift the moment they're drawn, and aren't connected to the code they describe.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54880" y="1234440"/>
            <a:ext cx="3931920" cy="3383280"/>
          </a:xfrm>
          <a:prstGeom prst="roundRect">
            <a:avLst>
              <a:gd name="adj" fmla="val 2162"/>
            </a:avLst>
          </a:prstGeom>
          <a:solidFill>
            <a:srgbClr val="065A82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codeswim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029200" y="18562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 layer for AI-era codebases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29200" y="2286000"/>
            <a:ext cx="33832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are plain markdown in the repo — zero lock-in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Clickable navigation down to the exact source line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file watching: the map updates as the code moves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presence: the team reads one live map, not divergent wiki snapshots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Agent-enforced alignment plus a CI coverage check — drift fails the build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a demo — a working platform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DF4F9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389888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" y="1513332"/>
            <a:ext cx="210312" cy="2103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1872" y="138988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navigator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261872" y="170078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app for macOS, Windows, and Linux. Folder in, clickable architecture out. Installers ship from CI on every tag.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09160" y="118872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DF4F9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910328" y="138988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3772" y="1513332"/>
            <a:ext cx="210312" cy="2103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13832" y="138988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extension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513832" y="170078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diagram navigation inside the editor developers already live in — one format, two surfaces.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297180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DF4F9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8368" y="3172968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" y="3296412"/>
            <a:ext cx="210312" cy="2103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61872" y="317296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codeswim-coverage CLI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261872" y="3483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 check that every source file is reachable from a diagram. Architecture drift becomes a failing build, not a surprise.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709160" y="2971800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EDF4F9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910328" y="3172968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772" y="3296412"/>
            <a:ext cx="210312" cy="2103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13832" y="317296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method, not just a tool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5513832" y="348386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Mermaid-Driven Development: overview → architecture → flows → decisions. A runnable example repo shows the way.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70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dogfooded by one engineer — codeswim's own architecture is navigated in codeswim.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328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21280" cy="3246120"/>
          </a:xfrm>
          <a:prstGeom prst="roundRect">
            <a:avLst>
              <a:gd name="adj" fmla="val 2791"/>
            </a:avLst>
          </a:prstGeom>
          <a:solidFill>
            <a:srgbClr val="EDF4F9"/>
          </a:solidFill>
          <a:ln/>
        </p:spPr>
      </p:sp>
      <p:sp>
        <p:nvSpPr>
          <p:cNvPr id="4" name="Shape 2"/>
          <p:cNvSpPr/>
          <p:nvPr/>
        </p:nvSpPr>
        <p:spPr>
          <a:xfrm>
            <a:off x="685800" y="146304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4630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664208" y="1463040"/>
            <a:ext cx="1249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1947672"/>
            <a:ext cx="2164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navigator with live reload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pane with line-range highlights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controls &amp; npm script runner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panel for diagram/code alignment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presence + per-repo chat, gated by GitHub repo access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61360" y="1234440"/>
            <a:ext cx="2621280" cy="3246120"/>
          </a:xfrm>
          <a:prstGeom prst="roundRect">
            <a:avLst>
              <a:gd name="adj" fmla="val 2791"/>
            </a:avLst>
          </a:prstGeom>
          <a:solidFill>
            <a:srgbClr val="EDF4F9"/>
          </a:solidFill>
          <a:ln/>
        </p:spPr>
      </p:sp>
      <p:sp>
        <p:nvSpPr>
          <p:cNvPr id="9" name="Shape 7"/>
          <p:cNvSpPr/>
          <p:nvPr/>
        </p:nvSpPr>
        <p:spPr>
          <a:xfrm>
            <a:off x="3489960" y="146304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3489960" y="14630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68368" y="1463040"/>
            <a:ext cx="1249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flight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89960" y="1947672"/>
            <a:ext cx="2164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gates wired into CI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across the diagram tree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Agent-generated diagrams for existing repos (bootstrap any codebase)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65520" y="1234440"/>
            <a:ext cx="2621280" cy="3246120"/>
          </a:xfrm>
          <a:prstGeom prst="roundRect">
            <a:avLst>
              <a:gd name="adj" fmla="val 2791"/>
            </a:avLst>
          </a:prstGeom>
          <a:solidFill>
            <a:srgbClr val="EDF4F9"/>
          </a:solidFill>
          <a:ln/>
        </p:spPr>
      </p:sp>
      <p:sp>
        <p:nvSpPr>
          <p:cNvPr id="14" name="Shape 12"/>
          <p:cNvSpPr/>
          <p:nvPr/>
        </p:nvSpPr>
        <p:spPr>
          <a:xfrm>
            <a:off x="6294120" y="1463040"/>
            <a:ext cx="868680" cy="310896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/>
        </p:spPr>
      </p:sp>
      <p:sp>
        <p:nvSpPr>
          <p:cNvPr id="15" name="Text 13"/>
          <p:cNvSpPr/>
          <p:nvPr/>
        </p:nvSpPr>
        <p:spPr>
          <a:xfrm>
            <a:off x="6294120" y="14630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LATER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272528" y="1463040"/>
            <a:ext cx="1249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bet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294120" y="1947672"/>
            <a:ext cx="2164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Executable flows — the diagram becomes the program, the agent wires the nodes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Multi-repo navigation &amp; cross-team rooms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328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tier around the agentic runner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502920"/>
            <a:ext cx="100584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1A2A3A">
                <a:alpha val="18000"/>
              </a:srgbClr>
            </a:outerShdw>
          </a:effectLst>
        </p:spPr>
      </p:sp>
      <p:pic>
        <p:nvPicPr>
          <p:cNvPr id="3" name="Image 0" descr="/var/folders/c8/tfsrh7q95nj3ldwq3jl7vj4c0000gn/T/codeswim-logo-cropp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31945" y="565785"/>
            <a:ext cx="880110" cy="8801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Understanding is the bottleneck now.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1097280" y="23774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codeswim is how developers keep up with the code their agents write.</a:t>
            </a:r>
            <a:endParaRPr lang="en-US" sz="1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3182112"/>
            <a:ext cx="256032" cy="2560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154680" y="31546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github.com/keithagroves/codeswim</a:t>
            </a:r>
            <a:endParaRPr lang="en-US" sz="12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685032"/>
            <a:ext cx="256032" cy="2560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154680" y="365760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it live: point it at codeswim-example</a:t>
            </a:r>
            <a:endParaRPr lang="en-US" sz="125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4187952"/>
            <a:ext cx="256032" cy="25603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3154680" y="416052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keithalgroves@gmail.com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codeswim — pitch deck</dc:title>
  <dc:subject>PptxGenJS Presentation</dc:subject>
  <dc:creator>Keith Groves</dc:creator>
  <cp:lastModifiedBy>Keith Groves</cp:lastModifiedBy>
  <cp:revision>1</cp:revision>
  <dcterms:created xsi:type="dcterms:W3CDTF">2026-06-14T04:43:20Z</dcterms:created>
  <dcterms:modified xsi:type="dcterms:W3CDTF">2026-06-14T04:43:20Z</dcterms:modified>
</cp:coreProperties>
</file>